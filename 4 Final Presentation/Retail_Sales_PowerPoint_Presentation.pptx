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ngani%20Ngcobo\Downloads\brightlearn\Retail%20Sales\Retail_sales_Pivot_Tab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ngani%20Ngcobo\Downloads\brightlearn\Retail%20Sales\Retail_sales_Pivot_Tab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ngani%20Ngcobo\Downloads\brightlearn\Retail%20Sales\Retail_sales_Pivot_Tab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ngani%20Ngcobo\Downloads\brightlearn\Retail%20Sales\Retail_sales_Pivot_Tabl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ngani%20Ngcobo\Downloads\brightlearn\Retail%20Sales\Retail_sales_Pivot_Tabl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[Retail_sales_Pivot_Table.xlsx]Revenue by Month_Name and Day_N!PivotTable1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Month_Name</a:t>
            </a:r>
            <a:r>
              <a:rPr lang="en-US" baseline="0"/>
              <a:t> and Day_Name and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'Revenue by Month_Name and Day_N'!$B$3:$B$4</c:f>
              <c:strCache>
                <c:ptCount val="1"/>
                <c:pt idx="0">
                  <c:v>Female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'Revenue by Month_Name and Day_N'!$A$5:$A$101</c:f>
              <c:multiLvlStrCache>
                <c:ptCount val="84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  <c:pt idx="7">
                    <c:v>Sun</c:v>
                  </c:pt>
                  <c:pt idx="8">
                    <c:v>Mon</c:v>
                  </c:pt>
                  <c:pt idx="9">
                    <c:v>Tue</c:v>
                  </c:pt>
                  <c:pt idx="10">
                    <c:v>Wed</c:v>
                  </c:pt>
                  <c:pt idx="11">
                    <c:v>Thu</c:v>
                  </c:pt>
                  <c:pt idx="12">
                    <c:v>Fri</c:v>
                  </c:pt>
                  <c:pt idx="13">
                    <c:v>Sat</c:v>
                  </c:pt>
                  <c:pt idx="14">
                    <c:v>Sun</c:v>
                  </c:pt>
                  <c:pt idx="15">
                    <c:v>Mon</c:v>
                  </c:pt>
                  <c:pt idx="16">
                    <c:v>Tue</c:v>
                  </c:pt>
                  <c:pt idx="17">
                    <c:v>Wed</c:v>
                  </c:pt>
                  <c:pt idx="18">
                    <c:v>Thu</c:v>
                  </c:pt>
                  <c:pt idx="19">
                    <c:v>Fri</c:v>
                  </c:pt>
                  <c:pt idx="20">
                    <c:v>Sat</c:v>
                  </c:pt>
                  <c:pt idx="21">
                    <c:v>Sun</c:v>
                  </c:pt>
                  <c:pt idx="22">
                    <c:v>Mon</c:v>
                  </c:pt>
                  <c:pt idx="23">
                    <c:v>Tue</c:v>
                  </c:pt>
                  <c:pt idx="24">
                    <c:v>Wed</c:v>
                  </c:pt>
                  <c:pt idx="25">
                    <c:v>Thu</c:v>
                  </c:pt>
                  <c:pt idx="26">
                    <c:v>Fri</c:v>
                  </c:pt>
                  <c:pt idx="27">
                    <c:v>Sat</c:v>
                  </c:pt>
                  <c:pt idx="28">
                    <c:v>Sun</c:v>
                  </c:pt>
                  <c:pt idx="29">
                    <c:v>Mon</c:v>
                  </c:pt>
                  <c:pt idx="30">
                    <c:v>Tue</c:v>
                  </c:pt>
                  <c:pt idx="31">
                    <c:v>Wed</c:v>
                  </c:pt>
                  <c:pt idx="32">
                    <c:v>Thu</c:v>
                  </c:pt>
                  <c:pt idx="33">
                    <c:v>Fri</c:v>
                  </c:pt>
                  <c:pt idx="34">
                    <c:v>Sat</c:v>
                  </c:pt>
                  <c:pt idx="35">
                    <c:v>Sun</c:v>
                  </c:pt>
                  <c:pt idx="36">
                    <c:v>Mon</c:v>
                  </c:pt>
                  <c:pt idx="37">
                    <c:v>Tue</c:v>
                  </c:pt>
                  <c:pt idx="38">
                    <c:v>Wed</c:v>
                  </c:pt>
                  <c:pt idx="39">
                    <c:v>Thu</c:v>
                  </c:pt>
                  <c:pt idx="40">
                    <c:v>Fri</c:v>
                  </c:pt>
                  <c:pt idx="41">
                    <c:v>Sat</c:v>
                  </c:pt>
                  <c:pt idx="42">
                    <c:v>Sun</c:v>
                  </c:pt>
                  <c:pt idx="43">
                    <c:v>Mon</c:v>
                  </c:pt>
                  <c:pt idx="44">
                    <c:v>Tue</c:v>
                  </c:pt>
                  <c:pt idx="45">
                    <c:v>Wed</c:v>
                  </c:pt>
                  <c:pt idx="46">
                    <c:v>Thu</c:v>
                  </c:pt>
                  <c:pt idx="47">
                    <c:v>Fri</c:v>
                  </c:pt>
                  <c:pt idx="48">
                    <c:v>Sat</c:v>
                  </c:pt>
                  <c:pt idx="49">
                    <c:v>Sun</c:v>
                  </c:pt>
                  <c:pt idx="50">
                    <c:v>Mon</c:v>
                  </c:pt>
                  <c:pt idx="51">
                    <c:v>Tue</c:v>
                  </c:pt>
                  <c:pt idx="52">
                    <c:v>Wed</c:v>
                  </c:pt>
                  <c:pt idx="53">
                    <c:v>Thu</c:v>
                  </c:pt>
                  <c:pt idx="54">
                    <c:v>Fri</c:v>
                  </c:pt>
                  <c:pt idx="55">
                    <c:v>Sat</c:v>
                  </c:pt>
                  <c:pt idx="56">
                    <c:v>Sun</c:v>
                  </c:pt>
                  <c:pt idx="57">
                    <c:v>Mon</c:v>
                  </c:pt>
                  <c:pt idx="58">
                    <c:v>Tue</c:v>
                  </c:pt>
                  <c:pt idx="59">
                    <c:v>Wed</c:v>
                  </c:pt>
                  <c:pt idx="60">
                    <c:v>Thu</c:v>
                  </c:pt>
                  <c:pt idx="61">
                    <c:v>Fri</c:v>
                  </c:pt>
                  <c:pt idx="62">
                    <c:v>Sat</c:v>
                  </c:pt>
                  <c:pt idx="63">
                    <c:v>Sun</c:v>
                  </c:pt>
                  <c:pt idx="64">
                    <c:v>Mon</c:v>
                  </c:pt>
                  <c:pt idx="65">
                    <c:v>Tue</c:v>
                  </c:pt>
                  <c:pt idx="66">
                    <c:v>Wed</c:v>
                  </c:pt>
                  <c:pt idx="67">
                    <c:v>Thu</c:v>
                  </c:pt>
                  <c:pt idx="68">
                    <c:v>Fri</c:v>
                  </c:pt>
                  <c:pt idx="69">
                    <c:v>Sat</c:v>
                  </c:pt>
                  <c:pt idx="70">
                    <c:v>Sun</c:v>
                  </c:pt>
                  <c:pt idx="71">
                    <c:v>Mon</c:v>
                  </c:pt>
                  <c:pt idx="72">
                    <c:v>Tue</c:v>
                  </c:pt>
                  <c:pt idx="73">
                    <c:v>Wed</c:v>
                  </c:pt>
                  <c:pt idx="74">
                    <c:v>Thu</c:v>
                  </c:pt>
                  <c:pt idx="75">
                    <c:v>Fri</c:v>
                  </c:pt>
                  <c:pt idx="76">
                    <c:v>Sat</c:v>
                  </c:pt>
                  <c:pt idx="77">
                    <c:v>Sun</c:v>
                  </c:pt>
                  <c:pt idx="78">
                    <c:v>Mon</c:v>
                  </c:pt>
                  <c:pt idx="79">
                    <c:v>Tue</c:v>
                  </c:pt>
                  <c:pt idx="80">
                    <c:v>Wed</c:v>
                  </c:pt>
                  <c:pt idx="81">
                    <c:v>Thu</c:v>
                  </c:pt>
                  <c:pt idx="82">
                    <c:v>Fri</c:v>
                  </c:pt>
                  <c:pt idx="83">
                    <c:v>Sat</c:v>
                  </c:pt>
                </c:lvl>
                <c:lvl>
                  <c:pt idx="0">
                    <c:v>Jan</c:v>
                  </c:pt>
                  <c:pt idx="7">
                    <c:v>Feb</c:v>
                  </c:pt>
                  <c:pt idx="14">
                    <c:v>Mar</c:v>
                  </c:pt>
                  <c:pt idx="21">
                    <c:v>Apr</c:v>
                  </c:pt>
                  <c:pt idx="28">
                    <c:v>May</c:v>
                  </c:pt>
                  <c:pt idx="35">
                    <c:v>Jun</c:v>
                  </c:pt>
                  <c:pt idx="42">
                    <c:v>Jul</c:v>
                  </c:pt>
                  <c:pt idx="49">
                    <c:v>Aug</c:v>
                  </c:pt>
                  <c:pt idx="56">
                    <c:v>Sep</c:v>
                  </c:pt>
                  <c:pt idx="63">
                    <c:v>Oct</c:v>
                  </c:pt>
                  <c:pt idx="70">
                    <c:v>Nov</c:v>
                  </c:pt>
                  <c:pt idx="77">
                    <c:v>Dec</c:v>
                  </c:pt>
                </c:lvl>
              </c:multiLvlStrCache>
            </c:multiLvlStrRef>
          </c:cat>
          <c:val>
            <c:numRef>
              <c:f>'Revenue by Month_Name and Day_N'!$B$5:$B$101</c:f>
              <c:numCache>
                <c:formatCode>General</c:formatCode>
                <c:ptCount val="84"/>
                <c:pt idx="0">
                  <c:v>1525</c:v>
                </c:pt>
                <c:pt idx="1">
                  <c:v>8895</c:v>
                </c:pt>
                <c:pt idx="2">
                  <c:v>5355</c:v>
                </c:pt>
                <c:pt idx="3">
                  <c:v>430</c:v>
                </c:pt>
                <c:pt idx="4">
                  <c:v>3530</c:v>
                </c:pt>
                <c:pt idx="5">
                  <c:v>1395</c:v>
                </c:pt>
                <c:pt idx="6">
                  <c:v>3595</c:v>
                </c:pt>
                <c:pt idx="7">
                  <c:v>2070</c:v>
                </c:pt>
                <c:pt idx="8">
                  <c:v>2180</c:v>
                </c:pt>
                <c:pt idx="9">
                  <c:v>2255</c:v>
                </c:pt>
                <c:pt idx="10">
                  <c:v>3025</c:v>
                </c:pt>
                <c:pt idx="11">
                  <c:v>655</c:v>
                </c:pt>
                <c:pt idx="12">
                  <c:v>2990</c:v>
                </c:pt>
                <c:pt idx="13">
                  <c:v>1220</c:v>
                </c:pt>
                <c:pt idx="14">
                  <c:v>2200</c:v>
                </c:pt>
                <c:pt idx="15">
                  <c:v>1965</c:v>
                </c:pt>
                <c:pt idx="16">
                  <c:v>3090</c:v>
                </c:pt>
                <c:pt idx="17">
                  <c:v>725</c:v>
                </c:pt>
                <c:pt idx="18">
                  <c:v>2000</c:v>
                </c:pt>
                <c:pt idx="19">
                  <c:v>595</c:v>
                </c:pt>
                <c:pt idx="20">
                  <c:v>2745</c:v>
                </c:pt>
                <c:pt idx="21">
                  <c:v>3070</c:v>
                </c:pt>
                <c:pt idx="22">
                  <c:v>50</c:v>
                </c:pt>
                <c:pt idx="23">
                  <c:v>1800</c:v>
                </c:pt>
                <c:pt idx="24">
                  <c:v>5245</c:v>
                </c:pt>
                <c:pt idx="25">
                  <c:v>1615</c:v>
                </c:pt>
                <c:pt idx="26">
                  <c:v>135</c:v>
                </c:pt>
                <c:pt idx="27">
                  <c:v>5385</c:v>
                </c:pt>
                <c:pt idx="28">
                  <c:v>695</c:v>
                </c:pt>
                <c:pt idx="29">
                  <c:v>5365</c:v>
                </c:pt>
                <c:pt idx="30">
                  <c:v>9275</c:v>
                </c:pt>
                <c:pt idx="31">
                  <c:v>1975</c:v>
                </c:pt>
                <c:pt idx="32">
                  <c:v>1170</c:v>
                </c:pt>
                <c:pt idx="33">
                  <c:v>3120</c:v>
                </c:pt>
                <c:pt idx="34">
                  <c:v>2330</c:v>
                </c:pt>
                <c:pt idx="35">
                  <c:v>2900</c:v>
                </c:pt>
                <c:pt idx="36">
                  <c:v>2395</c:v>
                </c:pt>
                <c:pt idx="37">
                  <c:v>2740</c:v>
                </c:pt>
                <c:pt idx="38">
                  <c:v>1100</c:v>
                </c:pt>
                <c:pt idx="39">
                  <c:v>3670</c:v>
                </c:pt>
                <c:pt idx="40">
                  <c:v>1370</c:v>
                </c:pt>
                <c:pt idx="41">
                  <c:v>2700</c:v>
                </c:pt>
                <c:pt idx="42">
                  <c:v>710</c:v>
                </c:pt>
                <c:pt idx="43">
                  <c:v>2530</c:v>
                </c:pt>
                <c:pt idx="44">
                  <c:v>600</c:v>
                </c:pt>
                <c:pt idx="45">
                  <c:v>590</c:v>
                </c:pt>
                <c:pt idx="46">
                  <c:v>1250</c:v>
                </c:pt>
                <c:pt idx="47">
                  <c:v>6410</c:v>
                </c:pt>
                <c:pt idx="48">
                  <c:v>4795</c:v>
                </c:pt>
                <c:pt idx="49">
                  <c:v>4365</c:v>
                </c:pt>
                <c:pt idx="50">
                  <c:v>1050</c:v>
                </c:pt>
                <c:pt idx="51">
                  <c:v>4020</c:v>
                </c:pt>
                <c:pt idx="52">
                  <c:v>2130</c:v>
                </c:pt>
                <c:pt idx="53">
                  <c:v>3625</c:v>
                </c:pt>
                <c:pt idx="54">
                  <c:v>2435</c:v>
                </c:pt>
                <c:pt idx="55">
                  <c:v>4455</c:v>
                </c:pt>
                <c:pt idx="56">
                  <c:v>840</c:v>
                </c:pt>
                <c:pt idx="57">
                  <c:v>3290</c:v>
                </c:pt>
                <c:pt idx="58">
                  <c:v>600</c:v>
                </c:pt>
                <c:pt idx="59">
                  <c:v>1450</c:v>
                </c:pt>
                <c:pt idx="60">
                  <c:v>1405</c:v>
                </c:pt>
                <c:pt idx="61">
                  <c:v>3750</c:v>
                </c:pt>
                <c:pt idx="62">
                  <c:v>5200</c:v>
                </c:pt>
                <c:pt idx="63">
                  <c:v>5785</c:v>
                </c:pt>
                <c:pt idx="64">
                  <c:v>1950</c:v>
                </c:pt>
                <c:pt idx="65">
                  <c:v>4900</c:v>
                </c:pt>
                <c:pt idx="66">
                  <c:v>6875</c:v>
                </c:pt>
                <c:pt idx="67">
                  <c:v>1965</c:v>
                </c:pt>
                <c:pt idx="68">
                  <c:v>2725</c:v>
                </c:pt>
                <c:pt idx="69">
                  <c:v>2400</c:v>
                </c:pt>
                <c:pt idx="70">
                  <c:v>1250</c:v>
                </c:pt>
                <c:pt idx="71">
                  <c:v>2865</c:v>
                </c:pt>
                <c:pt idx="72">
                  <c:v>1060</c:v>
                </c:pt>
                <c:pt idx="73">
                  <c:v>2900</c:v>
                </c:pt>
                <c:pt idx="74">
                  <c:v>4105</c:v>
                </c:pt>
                <c:pt idx="75">
                  <c:v>1980</c:v>
                </c:pt>
                <c:pt idx="76">
                  <c:v>730</c:v>
                </c:pt>
                <c:pt idx="77">
                  <c:v>3560</c:v>
                </c:pt>
                <c:pt idx="78">
                  <c:v>3650</c:v>
                </c:pt>
                <c:pt idx="79">
                  <c:v>3315</c:v>
                </c:pt>
                <c:pt idx="80">
                  <c:v>3625</c:v>
                </c:pt>
                <c:pt idx="81">
                  <c:v>2385</c:v>
                </c:pt>
                <c:pt idx="82">
                  <c:v>4160</c:v>
                </c:pt>
                <c:pt idx="83">
                  <c:v>4610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91-44DC-9B11-8398A7800D02}"/>
            </c:ext>
          </c:extLst>
        </c:ser>
        <c:ser>
          <c:idx val="1"/>
          <c:order val="1"/>
          <c:tx>
            <c:strRef>
              <c:f>'Revenue by Month_Name and Day_N'!$C$3:$C$4</c:f>
              <c:strCache>
                <c:ptCount val="1"/>
                <c:pt idx="0">
                  <c:v>Male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'Revenue by Month_Name and Day_N'!$A$5:$A$101</c:f>
              <c:multiLvlStrCache>
                <c:ptCount val="84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  <c:pt idx="7">
                    <c:v>Sun</c:v>
                  </c:pt>
                  <c:pt idx="8">
                    <c:v>Mon</c:v>
                  </c:pt>
                  <c:pt idx="9">
                    <c:v>Tue</c:v>
                  </c:pt>
                  <c:pt idx="10">
                    <c:v>Wed</c:v>
                  </c:pt>
                  <c:pt idx="11">
                    <c:v>Thu</c:v>
                  </c:pt>
                  <c:pt idx="12">
                    <c:v>Fri</c:v>
                  </c:pt>
                  <c:pt idx="13">
                    <c:v>Sat</c:v>
                  </c:pt>
                  <c:pt idx="14">
                    <c:v>Sun</c:v>
                  </c:pt>
                  <c:pt idx="15">
                    <c:v>Mon</c:v>
                  </c:pt>
                  <c:pt idx="16">
                    <c:v>Tue</c:v>
                  </c:pt>
                  <c:pt idx="17">
                    <c:v>Wed</c:v>
                  </c:pt>
                  <c:pt idx="18">
                    <c:v>Thu</c:v>
                  </c:pt>
                  <c:pt idx="19">
                    <c:v>Fri</c:v>
                  </c:pt>
                  <c:pt idx="20">
                    <c:v>Sat</c:v>
                  </c:pt>
                  <c:pt idx="21">
                    <c:v>Sun</c:v>
                  </c:pt>
                  <c:pt idx="22">
                    <c:v>Mon</c:v>
                  </c:pt>
                  <c:pt idx="23">
                    <c:v>Tue</c:v>
                  </c:pt>
                  <c:pt idx="24">
                    <c:v>Wed</c:v>
                  </c:pt>
                  <c:pt idx="25">
                    <c:v>Thu</c:v>
                  </c:pt>
                  <c:pt idx="26">
                    <c:v>Fri</c:v>
                  </c:pt>
                  <c:pt idx="27">
                    <c:v>Sat</c:v>
                  </c:pt>
                  <c:pt idx="28">
                    <c:v>Sun</c:v>
                  </c:pt>
                  <c:pt idx="29">
                    <c:v>Mon</c:v>
                  </c:pt>
                  <c:pt idx="30">
                    <c:v>Tue</c:v>
                  </c:pt>
                  <c:pt idx="31">
                    <c:v>Wed</c:v>
                  </c:pt>
                  <c:pt idx="32">
                    <c:v>Thu</c:v>
                  </c:pt>
                  <c:pt idx="33">
                    <c:v>Fri</c:v>
                  </c:pt>
                  <c:pt idx="34">
                    <c:v>Sat</c:v>
                  </c:pt>
                  <c:pt idx="35">
                    <c:v>Sun</c:v>
                  </c:pt>
                  <c:pt idx="36">
                    <c:v>Mon</c:v>
                  </c:pt>
                  <c:pt idx="37">
                    <c:v>Tue</c:v>
                  </c:pt>
                  <c:pt idx="38">
                    <c:v>Wed</c:v>
                  </c:pt>
                  <c:pt idx="39">
                    <c:v>Thu</c:v>
                  </c:pt>
                  <c:pt idx="40">
                    <c:v>Fri</c:v>
                  </c:pt>
                  <c:pt idx="41">
                    <c:v>Sat</c:v>
                  </c:pt>
                  <c:pt idx="42">
                    <c:v>Sun</c:v>
                  </c:pt>
                  <c:pt idx="43">
                    <c:v>Mon</c:v>
                  </c:pt>
                  <c:pt idx="44">
                    <c:v>Tue</c:v>
                  </c:pt>
                  <c:pt idx="45">
                    <c:v>Wed</c:v>
                  </c:pt>
                  <c:pt idx="46">
                    <c:v>Thu</c:v>
                  </c:pt>
                  <c:pt idx="47">
                    <c:v>Fri</c:v>
                  </c:pt>
                  <c:pt idx="48">
                    <c:v>Sat</c:v>
                  </c:pt>
                  <c:pt idx="49">
                    <c:v>Sun</c:v>
                  </c:pt>
                  <c:pt idx="50">
                    <c:v>Mon</c:v>
                  </c:pt>
                  <c:pt idx="51">
                    <c:v>Tue</c:v>
                  </c:pt>
                  <c:pt idx="52">
                    <c:v>Wed</c:v>
                  </c:pt>
                  <c:pt idx="53">
                    <c:v>Thu</c:v>
                  </c:pt>
                  <c:pt idx="54">
                    <c:v>Fri</c:v>
                  </c:pt>
                  <c:pt idx="55">
                    <c:v>Sat</c:v>
                  </c:pt>
                  <c:pt idx="56">
                    <c:v>Sun</c:v>
                  </c:pt>
                  <c:pt idx="57">
                    <c:v>Mon</c:v>
                  </c:pt>
                  <c:pt idx="58">
                    <c:v>Tue</c:v>
                  </c:pt>
                  <c:pt idx="59">
                    <c:v>Wed</c:v>
                  </c:pt>
                  <c:pt idx="60">
                    <c:v>Thu</c:v>
                  </c:pt>
                  <c:pt idx="61">
                    <c:v>Fri</c:v>
                  </c:pt>
                  <c:pt idx="62">
                    <c:v>Sat</c:v>
                  </c:pt>
                  <c:pt idx="63">
                    <c:v>Sun</c:v>
                  </c:pt>
                  <c:pt idx="64">
                    <c:v>Mon</c:v>
                  </c:pt>
                  <c:pt idx="65">
                    <c:v>Tue</c:v>
                  </c:pt>
                  <c:pt idx="66">
                    <c:v>Wed</c:v>
                  </c:pt>
                  <c:pt idx="67">
                    <c:v>Thu</c:v>
                  </c:pt>
                  <c:pt idx="68">
                    <c:v>Fri</c:v>
                  </c:pt>
                  <c:pt idx="69">
                    <c:v>Sat</c:v>
                  </c:pt>
                  <c:pt idx="70">
                    <c:v>Sun</c:v>
                  </c:pt>
                  <c:pt idx="71">
                    <c:v>Mon</c:v>
                  </c:pt>
                  <c:pt idx="72">
                    <c:v>Tue</c:v>
                  </c:pt>
                  <c:pt idx="73">
                    <c:v>Wed</c:v>
                  </c:pt>
                  <c:pt idx="74">
                    <c:v>Thu</c:v>
                  </c:pt>
                  <c:pt idx="75">
                    <c:v>Fri</c:v>
                  </c:pt>
                  <c:pt idx="76">
                    <c:v>Sat</c:v>
                  </c:pt>
                  <c:pt idx="77">
                    <c:v>Sun</c:v>
                  </c:pt>
                  <c:pt idx="78">
                    <c:v>Mon</c:v>
                  </c:pt>
                  <c:pt idx="79">
                    <c:v>Tue</c:v>
                  </c:pt>
                  <c:pt idx="80">
                    <c:v>Wed</c:v>
                  </c:pt>
                  <c:pt idx="81">
                    <c:v>Thu</c:v>
                  </c:pt>
                  <c:pt idx="82">
                    <c:v>Fri</c:v>
                  </c:pt>
                  <c:pt idx="83">
                    <c:v>Sat</c:v>
                  </c:pt>
                </c:lvl>
                <c:lvl>
                  <c:pt idx="0">
                    <c:v>Jan</c:v>
                  </c:pt>
                  <c:pt idx="7">
                    <c:v>Feb</c:v>
                  </c:pt>
                  <c:pt idx="14">
                    <c:v>Mar</c:v>
                  </c:pt>
                  <c:pt idx="21">
                    <c:v>Apr</c:v>
                  </c:pt>
                  <c:pt idx="28">
                    <c:v>May</c:v>
                  </c:pt>
                  <c:pt idx="35">
                    <c:v>Jun</c:v>
                  </c:pt>
                  <c:pt idx="42">
                    <c:v>Jul</c:v>
                  </c:pt>
                  <c:pt idx="49">
                    <c:v>Aug</c:v>
                  </c:pt>
                  <c:pt idx="56">
                    <c:v>Sep</c:v>
                  </c:pt>
                  <c:pt idx="63">
                    <c:v>Oct</c:v>
                  </c:pt>
                  <c:pt idx="70">
                    <c:v>Nov</c:v>
                  </c:pt>
                  <c:pt idx="77">
                    <c:v>Dec</c:v>
                  </c:pt>
                </c:lvl>
              </c:multiLvlStrCache>
            </c:multiLvlStrRef>
          </c:cat>
          <c:val>
            <c:numRef>
              <c:f>'Revenue by Month_Name and Day_N'!$C$5:$C$101</c:f>
              <c:numCache>
                <c:formatCode>General</c:formatCode>
                <c:ptCount val="84"/>
                <c:pt idx="0">
                  <c:v>4285</c:v>
                </c:pt>
                <c:pt idx="1">
                  <c:v>2460</c:v>
                </c:pt>
                <c:pt idx="2">
                  <c:v>1470</c:v>
                </c:pt>
                <c:pt idx="3">
                  <c:v>1140</c:v>
                </c:pt>
                <c:pt idx="4">
                  <c:v>170</c:v>
                </c:pt>
                <c:pt idx="5">
                  <c:v>1515</c:v>
                </c:pt>
                <c:pt idx="6">
                  <c:v>1215</c:v>
                </c:pt>
                <c:pt idx="7">
                  <c:v>2310</c:v>
                </c:pt>
                <c:pt idx="8">
                  <c:v>5000</c:v>
                </c:pt>
                <c:pt idx="9">
                  <c:v>2810</c:v>
                </c:pt>
                <c:pt idx="10">
                  <c:v>2400</c:v>
                </c:pt>
                <c:pt idx="11">
                  <c:v>2250</c:v>
                </c:pt>
                <c:pt idx="12">
                  <c:v>9230</c:v>
                </c:pt>
                <c:pt idx="13">
                  <c:v>5665</c:v>
                </c:pt>
                <c:pt idx="14">
                  <c:v>245</c:v>
                </c:pt>
                <c:pt idx="15">
                  <c:v>2500</c:v>
                </c:pt>
                <c:pt idx="16">
                  <c:v>3550</c:v>
                </c:pt>
                <c:pt idx="17">
                  <c:v>2650</c:v>
                </c:pt>
                <c:pt idx="18">
                  <c:v>1650</c:v>
                </c:pt>
                <c:pt idx="19">
                  <c:v>3075</c:v>
                </c:pt>
                <c:pt idx="20">
                  <c:v>2000</c:v>
                </c:pt>
                <c:pt idx="21">
                  <c:v>5125</c:v>
                </c:pt>
                <c:pt idx="22">
                  <c:v>205</c:v>
                </c:pt>
                <c:pt idx="23">
                  <c:v>530</c:v>
                </c:pt>
                <c:pt idx="24">
                  <c:v>1440</c:v>
                </c:pt>
                <c:pt idx="25">
                  <c:v>4750</c:v>
                </c:pt>
                <c:pt idx="26">
                  <c:v>170</c:v>
                </c:pt>
                <c:pt idx="27">
                  <c:v>4350</c:v>
                </c:pt>
                <c:pt idx="28">
                  <c:v>4335</c:v>
                </c:pt>
                <c:pt idx="29">
                  <c:v>4150</c:v>
                </c:pt>
                <c:pt idx="30">
                  <c:v>7405</c:v>
                </c:pt>
                <c:pt idx="31">
                  <c:v>5925</c:v>
                </c:pt>
                <c:pt idx="32">
                  <c:v>3150</c:v>
                </c:pt>
                <c:pt idx="33">
                  <c:v>1870</c:v>
                </c:pt>
                <c:pt idx="34">
                  <c:v>2385</c:v>
                </c:pt>
                <c:pt idx="35">
                  <c:v>3230</c:v>
                </c:pt>
                <c:pt idx="36">
                  <c:v>2830</c:v>
                </c:pt>
                <c:pt idx="37">
                  <c:v>800</c:v>
                </c:pt>
                <c:pt idx="38">
                  <c:v>425</c:v>
                </c:pt>
                <c:pt idx="39">
                  <c:v>1780</c:v>
                </c:pt>
                <c:pt idx="40">
                  <c:v>2030</c:v>
                </c:pt>
                <c:pt idx="41">
                  <c:v>8745</c:v>
                </c:pt>
                <c:pt idx="42">
                  <c:v>2075</c:v>
                </c:pt>
                <c:pt idx="43">
                  <c:v>4760</c:v>
                </c:pt>
                <c:pt idx="44">
                  <c:v>2100</c:v>
                </c:pt>
                <c:pt idx="45">
                  <c:v>3280</c:v>
                </c:pt>
                <c:pt idx="46">
                  <c:v>2300</c:v>
                </c:pt>
                <c:pt idx="47">
                  <c:v>3165</c:v>
                </c:pt>
                <c:pt idx="48">
                  <c:v>900</c:v>
                </c:pt>
                <c:pt idx="49">
                  <c:v>650</c:v>
                </c:pt>
                <c:pt idx="50">
                  <c:v>3110</c:v>
                </c:pt>
                <c:pt idx="51">
                  <c:v>2960</c:v>
                </c:pt>
                <c:pt idx="52">
                  <c:v>660</c:v>
                </c:pt>
                <c:pt idx="53">
                  <c:v>1515</c:v>
                </c:pt>
                <c:pt idx="54">
                  <c:v>750</c:v>
                </c:pt>
                <c:pt idx="55">
                  <c:v>5235</c:v>
                </c:pt>
                <c:pt idx="56">
                  <c:v>750</c:v>
                </c:pt>
                <c:pt idx="57">
                  <c:v>2000</c:v>
                </c:pt>
                <c:pt idx="58">
                  <c:v>190</c:v>
                </c:pt>
                <c:pt idx="59">
                  <c:v>365</c:v>
                </c:pt>
                <c:pt idx="60">
                  <c:v>745</c:v>
                </c:pt>
                <c:pt idx="61">
                  <c:v>1515</c:v>
                </c:pt>
                <c:pt idx="62">
                  <c:v>1520</c:v>
                </c:pt>
                <c:pt idx="63">
                  <c:v>3740</c:v>
                </c:pt>
                <c:pt idx="64">
                  <c:v>3225</c:v>
                </c:pt>
                <c:pt idx="65">
                  <c:v>3555</c:v>
                </c:pt>
                <c:pt idx="66">
                  <c:v>3910</c:v>
                </c:pt>
                <c:pt idx="67">
                  <c:v>1640</c:v>
                </c:pt>
                <c:pt idx="68">
                  <c:v>3650</c:v>
                </c:pt>
                <c:pt idx="69">
                  <c:v>260</c:v>
                </c:pt>
                <c:pt idx="70">
                  <c:v>2675</c:v>
                </c:pt>
                <c:pt idx="71">
                  <c:v>1345</c:v>
                </c:pt>
                <c:pt idx="72">
                  <c:v>3030</c:v>
                </c:pt>
                <c:pt idx="73">
                  <c:v>4415</c:v>
                </c:pt>
                <c:pt idx="74">
                  <c:v>4460</c:v>
                </c:pt>
                <c:pt idx="75">
                  <c:v>3055</c:v>
                </c:pt>
                <c:pt idx="76">
                  <c:v>1050</c:v>
                </c:pt>
                <c:pt idx="77">
                  <c:v>210</c:v>
                </c:pt>
                <c:pt idx="78">
                  <c:v>2480</c:v>
                </c:pt>
                <c:pt idx="79">
                  <c:v>2030</c:v>
                </c:pt>
                <c:pt idx="80">
                  <c:v>2090</c:v>
                </c:pt>
                <c:pt idx="81">
                  <c:v>2050</c:v>
                </c:pt>
                <c:pt idx="82">
                  <c:v>5200</c:v>
                </c:pt>
                <c:pt idx="83">
                  <c:v>5325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91-44DC-9B11-8398A7800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522911"/>
        <c:axId val="333522431"/>
      </c:lineChart>
      <c:catAx>
        <c:axId val="333522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522431"/>
        <c:crosses val="autoZero"/>
        <c:auto val="1"/>
        <c:lblAlgn val="ctr"/>
        <c:lblOffset val="100"/>
        <c:noMultiLvlLbl val="0"/>
      </c:catAx>
      <c:valAx>
        <c:axId val="333522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522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[Retail_sales_Pivot_Table.xlsx]Revenue by Month_Name and Produ!PivotTable1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Revenue</a:t>
            </a:r>
            <a:r>
              <a:rPr lang="en-US" baseline="0" dirty="0"/>
              <a:t> by Month Name and Product Category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Month_Name and Produ'!$B$1:$B$2</c:f>
              <c:strCache>
                <c:ptCount val="1"/>
                <c:pt idx="0">
                  <c:v>Beauty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Month_Name and Produ'!$A$3:$A$15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'Revenue by Month_Name and Produ'!$B$3:$B$15</c:f>
              <c:numCache>
                <c:formatCode>General</c:formatCode>
                <c:ptCount val="12"/>
                <c:pt idx="0">
                  <c:v>13930</c:v>
                </c:pt>
                <c:pt idx="1">
                  <c:v>14035</c:v>
                </c:pt>
                <c:pt idx="2">
                  <c:v>10545</c:v>
                </c:pt>
                <c:pt idx="3">
                  <c:v>11905</c:v>
                </c:pt>
                <c:pt idx="4">
                  <c:v>12450</c:v>
                </c:pt>
                <c:pt idx="5">
                  <c:v>10995</c:v>
                </c:pt>
                <c:pt idx="6">
                  <c:v>16090</c:v>
                </c:pt>
                <c:pt idx="7">
                  <c:v>9790</c:v>
                </c:pt>
                <c:pt idx="8">
                  <c:v>6320</c:v>
                </c:pt>
                <c:pt idx="9">
                  <c:v>15355</c:v>
                </c:pt>
                <c:pt idx="10">
                  <c:v>9700</c:v>
                </c:pt>
                <c:pt idx="11">
                  <c:v>12400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A-4762-BF3C-1FC621876DA2}"/>
            </c:ext>
          </c:extLst>
        </c:ser>
        <c:ser>
          <c:idx val="1"/>
          <c:order val="1"/>
          <c:tx>
            <c:strRef>
              <c:f>'Revenue by Month_Name and Produ'!$C$1:$C$2</c:f>
              <c:strCache>
                <c:ptCount val="1"/>
                <c:pt idx="0">
                  <c:v>Clothing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Month_Name and Produ'!$A$3:$A$15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'Revenue by Month_Name and Produ'!$C$3:$C$15</c:f>
              <c:numCache>
                <c:formatCode>General</c:formatCode>
                <c:ptCount val="12"/>
                <c:pt idx="0">
                  <c:v>13125</c:v>
                </c:pt>
                <c:pt idx="1">
                  <c:v>14560</c:v>
                </c:pt>
                <c:pt idx="2">
                  <c:v>15065</c:v>
                </c:pt>
                <c:pt idx="3">
                  <c:v>13940</c:v>
                </c:pt>
                <c:pt idx="4">
                  <c:v>17455</c:v>
                </c:pt>
                <c:pt idx="5">
                  <c:v>10170</c:v>
                </c:pt>
                <c:pt idx="6">
                  <c:v>8250</c:v>
                </c:pt>
                <c:pt idx="7">
                  <c:v>12455</c:v>
                </c:pt>
                <c:pt idx="8">
                  <c:v>9975</c:v>
                </c:pt>
                <c:pt idx="9">
                  <c:v>13315</c:v>
                </c:pt>
                <c:pt idx="10">
                  <c:v>15200</c:v>
                </c:pt>
                <c:pt idx="11">
                  <c:v>12070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7A-4762-BF3C-1FC621876DA2}"/>
            </c:ext>
          </c:extLst>
        </c:ser>
        <c:ser>
          <c:idx val="2"/>
          <c:order val="2"/>
          <c:tx>
            <c:strRef>
              <c:f>'Revenue by Month_Name and Produ'!$D$1:$D$2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'Revenue by Month_Name and Produ'!$A$3:$A$15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'Revenue by Month_Name and Produ'!$D$3:$D$15</c:f>
              <c:numCache>
                <c:formatCode>General</c:formatCode>
                <c:ptCount val="12"/>
                <c:pt idx="0">
                  <c:v>9925</c:v>
                </c:pt>
                <c:pt idx="1">
                  <c:v>15465</c:v>
                </c:pt>
                <c:pt idx="2">
                  <c:v>3380</c:v>
                </c:pt>
                <c:pt idx="3">
                  <c:v>8025</c:v>
                </c:pt>
                <c:pt idx="4">
                  <c:v>23245</c:v>
                </c:pt>
                <c:pt idx="5">
                  <c:v>15550</c:v>
                </c:pt>
                <c:pt idx="6">
                  <c:v>11125</c:v>
                </c:pt>
                <c:pt idx="7">
                  <c:v>14715</c:v>
                </c:pt>
                <c:pt idx="8">
                  <c:v>7325</c:v>
                </c:pt>
                <c:pt idx="9">
                  <c:v>17910</c:v>
                </c:pt>
                <c:pt idx="10">
                  <c:v>10020</c:v>
                </c:pt>
                <c:pt idx="11">
                  <c:v>20220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7A-4762-BF3C-1FC621876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axId val="774103376"/>
        <c:axId val="774101936"/>
      </c:barChart>
      <c:catAx>
        <c:axId val="774103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101936"/>
        <c:crosses val="autoZero"/>
        <c:auto val="1"/>
        <c:lblAlgn val="ctr"/>
        <c:lblOffset val="100"/>
        <c:noMultiLvlLbl val="0"/>
      </c:catAx>
      <c:valAx>
        <c:axId val="77410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103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[Retail_sales_Pivot_Table.xlsx]Revenue by Age_Category and Pro!PivotTable2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Age_Category and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Age_Category and Pro'!$B$1:$B$2</c:f>
              <c:strCache>
                <c:ptCount val="1"/>
                <c:pt idx="0">
                  <c:v>Beauty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'Revenue by Age_Category and Pro'!$A$3:$A$6</c:f>
              <c:strCache>
                <c:ptCount val="3"/>
                <c:pt idx="0">
                  <c:v>Adult</c:v>
                </c:pt>
                <c:pt idx="1">
                  <c:v>Pensioner</c:v>
                </c:pt>
                <c:pt idx="2">
                  <c:v>Youth</c:v>
                </c:pt>
              </c:strCache>
            </c:strRef>
          </c:cat>
          <c:val>
            <c:numRef>
              <c:f>'Revenue by Age_Category and Pro'!$B$3:$B$6</c:f>
              <c:numCache>
                <c:formatCode>General</c:formatCode>
                <c:ptCount val="3"/>
                <c:pt idx="0">
                  <c:v>49110</c:v>
                </c:pt>
                <c:pt idx="1">
                  <c:v>31885</c:v>
                </c:pt>
                <c:pt idx="2">
                  <c:v>62520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C2-45E9-B332-41835238B11A}"/>
            </c:ext>
          </c:extLst>
        </c:ser>
        <c:ser>
          <c:idx val="1"/>
          <c:order val="1"/>
          <c:tx>
            <c:strRef>
              <c:f>'Revenue by Age_Category and Pro'!$C$1:$C$2</c:f>
              <c:strCache>
                <c:ptCount val="1"/>
                <c:pt idx="0">
                  <c:v>Clothing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'Revenue by Age_Category and Pro'!$A$3:$A$6</c:f>
              <c:strCache>
                <c:ptCount val="3"/>
                <c:pt idx="0">
                  <c:v>Adult</c:v>
                </c:pt>
                <c:pt idx="1">
                  <c:v>Pensioner</c:v>
                </c:pt>
                <c:pt idx="2">
                  <c:v>Youth</c:v>
                </c:pt>
              </c:strCache>
            </c:strRef>
          </c:cat>
          <c:val>
            <c:numRef>
              <c:f>'Revenue by Age_Category and Pro'!$C$3:$C$6</c:f>
              <c:numCache>
                <c:formatCode>General</c:formatCode>
                <c:ptCount val="3"/>
                <c:pt idx="0">
                  <c:v>42975</c:v>
                </c:pt>
                <c:pt idx="1">
                  <c:v>46120</c:v>
                </c:pt>
                <c:pt idx="2">
                  <c:v>66485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C2-45E9-B332-41835238B11A}"/>
            </c:ext>
          </c:extLst>
        </c:ser>
        <c:ser>
          <c:idx val="2"/>
          <c:order val="2"/>
          <c:tx>
            <c:strRef>
              <c:f>'Revenue by Age_Category and Pro'!$D$1:$D$2</c:f>
              <c:strCache>
                <c:ptCount val="1"/>
                <c:pt idx="0">
                  <c:v>Electronics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'Revenue by Age_Category and Pro'!$A$3:$A$6</c:f>
              <c:strCache>
                <c:ptCount val="3"/>
                <c:pt idx="0">
                  <c:v>Adult</c:v>
                </c:pt>
                <c:pt idx="1">
                  <c:v>Pensioner</c:v>
                </c:pt>
                <c:pt idx="2">
                  <c:v>Youth</c:v>
                </c:pt>
              </c:strCache>
            </c:strRef>
          </c:cat>
          <c:val>
            <c:numRef>
              <c:f>'Revenue by Age_Category and Pro'!$D$3:$D$6</c:f>
              <c:numCache>
                <c:formatCode>General</c:formatCode>
                <c:ptCount val="3"/>
                <c:pt idx="0">
                  <c:v>47575</c:v>
                </c:pt>
                <c:pt idx="1">
                  <c:v>55305</c:v>
                </c:pt>
                <c:pt idx="2">
                  <c:v>54025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C2-45E9-B332-41835238B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906485152"/>
        <c:axId val="906491872"/>
      </c:barChart>
      <c:catAx>
        <c:axId val="90648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491872"/>
        <c:crosses val="autoZero"/>
        <c:auto val="1"/>
        <c:lblAlgn val="ctr"/>
        <c:lblOffset val="100"/>
        <c:noMultiLvlLbl val="0"/>
      </c:catAx>
      <c:valAx>
        <c:axId val="90649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485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[Retail_sales_Pivot_Table.xlsx]Revenue by Quantity and Day_Nam!PivotTable3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</a:t>
            </a:r>
            <a:r>
              <a:rPr lang="en-US" baseline="0"/>
              <a:t> by Quantity and Day_Name and Product Category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'Revenue by Quantity and Day_Nam'!$B$1:$B$2</c:f>
              <c:strCache>
                <c:ptCount val="1"/>
                <c:pt idx="0">
                  <c:v>Beauty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'Revenue by Quantity and Day_Nam'!$A$3:$A$35</c:f>
              <c:multiLvlStrCache>
                <c:ptCount val="28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  <c:pt idx="7">
                    <c:v>Sun</c:v>
                  </c:pt>
                  <c:pt idx="8">
                    <c:v>Mon</c:v>
                  </c:pt>
                  <c:pt idx="9">
                    <c:v>Tue</c:v>
                  </c:pt>
                  <c:pt idx="10">
                    <c:v>Wed</c:v>
                  </c:pt>
                  <c:pt idx="11">
                    <c:v>Thu</c:v>
                  </c:pt>
                  <c:pt idx="12">
                    <c:v>Fri</c:v>
                  </c:pt>
                  <c:pt idx="13">
                    <c:v>Sat</c:v>
                  </c:pt>
                  <c:pt idx="14">
                    <c:v>Sun</c:v>
                  </c:pt>
                  <c:pt idx="15">
                    <c:v>Mon</c:v>
                  </c:pt>
                  <c:pt idx="16">
                    <c:v>Tue</c:v>
                  </c:pt>
                  <c:pt idx="17">
                    <c:v>Wed</c:v>
                  </c:pt>
                  <c:pt idx="18">
                    <c:v>Thu</c:v>
                  </c:pt>
                  <c:pt idx="19">
                    <c:v>Fri</c:v>
                  </c:pt>
                  <c:pt idx="20">
                    <c:v>Sat</c:v>
                  </c:pt>
                  <c:pt idx="21">
                    <c:v>Sun</c:v>
                  </c:pt>
                  <c:pt idx="22">
                    <c:v>Mon</c:v>
                  </c:pt>
                  <c:pt idx="23">
                    <c:v>Tue</c:v>
                  </c:pt>
                  <c:pt idx="24">
                    <c:v>Wed</c:v>
                  </c:pt>
                  <c:pt idx="25">
                    <c:v>Thu</c:v>
                  </c:pt>
                  <c:pt idx="26">
                    <c:v>Fri</c:v>
                  </c:pt>
                  <c:pt idx="27">
                    <c:v>Sat</c:v>
                  </c:pt>
                </c:lvl>
                <c:lvl>
                  <c:pt idx="0">
                    <c:v>1</c:v>
                  </c:pt>
                  <c:pt idx="7">
                    <c:v>2</c:v>
                  </c:pt>
                  <c:pt idx="14">
                    <c:v>3</c:v>
                  </c:pt>
                  <c:pt idx="21">
                    <c:v>4</c:v>
                  </c:pt>
                </c:lvl>
              </c:multiLvlStrCache>
            </c:multiLvlStrRef>
          </c:cat>
          <c:val>
            <c:numRef>
              <c:f>'Revenue by Quantity and Day_Nam'!$B$3:$B$35</c:f>
              <c:numCache>
                <c:formatCode>General</c:formatCode>
                <c:ptCount val="28"/>
                <c:pt idx="0">
                  <c:v>1585</c:v>
                </c:pt>
                <c:pt idx="1">
                  <c:v>1530</c:v>
                </c:pt>
                <c:pt idx="2">
                  <c:v>1945</c:v>
                </c:pt>
                <c:pt idx="3">
                  <c:v>1795</c:v>
                </c:pt>
                <c:pt idx="4">
                  <c:v>1410</c:v>
                </c:pt>
                <c:pt idx="5">
                  <c:v>680</c:v>
                </c:pt>
                <c:pt idx="6">
                  <c:v>2785</c:v>
                </c:pt>
                <c:pt idx="7">
                  <c:v>3570</c:v>
                </c:pt>
                <c:pt idx="8">
                  <c:v>2970</c:v>
                </c:pt>
                <c:pt idx="9">
                  <c:v>2390</c:v>
                </c:pt>
                <c:pt idx="10">
                  <c:v>5760</c:v>
                </c:pt>
                <c:pt idx="11">
                  <c:v>2520</c:v>
                </c:pt>
                <c:pt idx="12">
                  <c:v>6200</c:v>
                </c:pt>
                <c:pt idx="13">
                  <c:v>6520</c:v>
                </c:pt>
                <c:pt idx="14">
                  <c:v>4215</c:v>
                </c:pt>
                <c:pt idx="15">
                  <c:v>13665</c:v>
                </c:pt>
                <c:pt idx="16">
                  <c:v>6780</c:v>
                </c:pt>
                <c:pt idx="17">
                  <c:v>3330</c:v>
                </c:pt>
                <c:pt idx="18">
                  <c:v>6030</c:v>
                </c:pt>
                <c:pt idx="19">
                  <c:v>11295</c:v>
                </c:pt>
                <c:pt idx="20">
                  <c:v>6840</c:v>
                </c:pt>
                <c:pt idx="21">
                  <c:v>2840</c:v>
                </c:pt>
                <c:pt idx="22">
                  <c:v>10520</c:v>
                </c:pt>
                <c:pt idx="23">
                  <c:v>9240</c:v>
                </c:pt>
                <c:pt idx="24">
                  <c:v>4400</c:v>
                </c:pt>
                <c:pt idx="25">
                  <c:v>8420</c:v>
                </c:pt>
                <c:pt idx="26">
                  <c:v>7220</c:v>
                </c:pt>
                <c:pt idx="27">
                  <c:v>7060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B8-49A0-8030-818779D51CE1}"/>
            </c:ext>
          </c:extLst>
        </c:ser>
        <c:ser>
          <c:idx val="1"/>
          <c:order val="1"/>
          <c:tx>
            <c:strRef>
              <c:f>'Revenue by Quantity and Day_Nam'!$C$1:$C$2</c:f>
              <c:strCache>
                <c:ptCount val="1"/>
                <c:pt idx="0">
                  <c:v>Clothing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'Revenue by Quantity and Day_Nam'!$A$3:$A$35</c:f>
              <c:multiLvlStrCache>
                <c:ptCount val="28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  <c:pt idx="7">
                    <c:v>Sun</c:v>
                  </c:pt>
                  <c:pt idx="8">
                    <c:v>Mon</c:v>
                  </c:pt>
                  <c:pt idx="9">
                    <c:v>Tue</c:v>
                  </c:pt>
                  <c:pt idx="10">
                    <c:v>Wed</c:v>
                  </c:pt>
                  <c:pt idx="11">
                    <c:v>Thu</c:v>
                  </c:pt>
                  <c:pt idx="12">
                    <c:v>Fri</c:v>
                  </c:pt>
                  <c:pt idx="13">
                    <c:v>Sat</c:v>
                  </c:pt>
                  <c:pt idx="14">
                    <c:v>Sun</c:v>
                  </c:pt>
                  <c:pt idx="15">
                    <c:v>Mon</c:v>
                  </c:pt>
                  <c:pt idx="16">
                    <c:v>Tue</c:v>
                  </c:pt>
                  <c:pt idx="17">
                    <c:v>Wed</c:v>
                  </c:pt>
                  <c:pt idx="18">
                    <c:v>Thu</c:v>
                  </c:pt>
                  <c:pt idx="19">
                    <c:v>Fri</c:v>
                  </c:pt>
                  <c:pt idx="20">
                    <c:v>Sat</c:v>
                  </c:pt>
                  <c:pt idx="21">
                    <c:v>Sun</c:v>
                  </c:pt>
                  <c:pt idx="22">
                    <c:v>Mon</c:v>
                  </c:pt>
                  <c:pt idx="23">
                    <c:v>Tue</c:v>
                  </c:pt>
                  <c:pt idx="24">
                    <c:v>Wed</c:v>
                  </c:pt>
                  <c:pt idx="25">
                    <c:v>Thu</c:v>
                  </c:pt>
                  <c:pt idx="26">
                    <c:v>Fri</c:v>
                  </c:pt>
                  <c:pt idx="27">
                    <c:v>Sat</c:v>
                  </c:pt>
                </c:lvl>
                <c:lvl>
                  <c:pt idx="0">
                    <c:v>1</c:v>
                  </c:pt>
                  <c:pt idx="7">
                    <c:v>2</c:v>
                  </c:pt>
                  <c:pt idx="14">
                    <c:v>3</c:v>
                  </c:pt>
                  <c:pt idx="21">
                    <c:v>4</c:v>
                  </c:pt>
                </c:lvl>
              </c:multiLvlStrCache>
            </c:multiLvlStrRef>
          </c:cat>
          <c:val>
            <c:numRef>
              <c:f>'Revenue by Quantity and Day_Nam'!$C$3:$C$35</c:f>
              <c:numCache>
                <c:formatCode>General</c:formatCode>
                <c:ptCount val="28"/>
                <c:pt idx="0">
                  <c:v>4760</c:v>
                </c:pt>
                <c:pt idx="1">
                  <c:v>755</c:v>
                </c:pt>
                <c:pt idx="2">
                  <c:v>3595</c:v>
                </c:pt>
                <c:pt idx="3">
                  <c:v>1655</c:v>
                </c:pt>
                <c:pt idx="4">
                  <c:v>1935</c:v>
                </c:pt>
                <c:pt idx="5">
                  <c:v>1680</c:v>
                </c:pt>
                <c:pt idx="6">
                  <c:v>1735</c:v>
                </c:pt>
                <c:pt idx="7">
                  <c:v>2720</c:v>
                </c:pt>
                <c:pt idx="8">
                  <c:v>1210</c:v>
                </c:pt>
                <c:pt idx="9">
                  <c:v>5640</c:v>
                </c:pt>
                <c:pt idx="10">
                  <c:v>1970</c:v>
                </c:pt>
                <c:pt idx="11">
                  <c:v>3490</c:v>
                </c:pt>
                <c:pt idx="12">
                  <c:v>4630</c:v>
                </c:pt>
                <c:pt idx="13">
                  <c:v>5010</c:v>
                </c:pt>
                <c:pt idx="14">
                  <c:v>9495</c:v>
                </c:pt>
                <c:pt idx="15">
                  <c:v>5910</c:v>
                </c:pt>
                <c:pt idx="16">
                  <c:v>4470</c:v>
                </c:pt>
                <c:pt idx="17">
                  <c:v>8295</c:v>
                </c:pt>
                <c:pt idx="18">
                  <c:v>2505</c:v>
                </c:pt>
                <c:pt idx="19">
                  <c:v>7065</c:v>
                </c:pt>
                <c:pt idx="20">
                  <c:v>10575</c:v>
                </c:pt>
                <c:pt idx="21">
                  <c:v>5220</c:v>
                </c:pt>
                <c:pt idx="22">
                  <c:v>10400</c:v>
                </c:pt>
                <c:pt idx="23">
                  <c:v>10020</c:v>
                </c:pt>
                <c:pt idx="24">
                  <c:v>11340</c:v>
                </c:pt>
                <c:pt idx="25">
                  <c:v>13260</c:v>
                </c:pt>
                <c:pt idx="26">
                  <c:v>10080</c:v>
                </c:pt>
                <c:pt idx="27">
                  <c:v>6160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8-49A0-8030-818779D51CE1}"/>
            </c:ext>
          </c:extLst>
        </c:ser>
        <c:ser>
          <c:idx val="2"/>
          <c:order val="2"/>
          <c:tx>
            <c:strRef>
              <c:f>'Revenue by Quantity and Day_Nam'!$D$1:$D$2</c:f>
              <c:strCache>
                <c:ptCount val="1"/>
                <c:pt idx="0">
                  <c:v>Electronics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'Revenue by Quantity and Day_Nam'!$A$3:$A$35</c:f>
              <c:multiLvlStrCache>
                <c:ptCount val="28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  <c:pt idx="7">
                    <c:v>Sun</c:v>
                  </c:pt>
                  <c:pt idx="8">
                    <c:v>Mon</c:v>
                  </c:pt>
                  <c:pt idx="9">
                    <c:v>Tue</c:v>
                  </c:pt>
                  <c:pt idx="10">
                    <c:v>Wed</c:v>
                  </c:pt>
                  <c:pt idx="11">
                    <c:v>Thu</c:v>
                  </c:pt>
                  <c:pt idx="12">
                    <c:v>Fri</c:v>
                  </c:pt>
                  <c:pt idx="13">
                    <c:v>Sat</c:v>
                  </c:pt>
                  <c:pt idx="14">
                    <c:v>Sun</c:v>
                  </c:pt>
                  <c:pt idx="15">
                    <c:v>Mon</c:v>
                  </c:pt>
                  <c:pt idx="16">
                    <c:v>Tue</c:v>
                  </c:pt>
                  <c:pt idx="17">
                    <c:v>Wed</c:v>
                  </c:pt>
                  <c:pt idx="18">
                    <c:v>Thu</c:v>
                  </c:pt>
                  <c:pt idx="19">
                    <c:v>Fri</c:v>
                  </c:pt>
                  <c:pt idx="20">
                    <c:v>Sat</c:v>
                  </c:pt>
                  <c:pt idx="21">
                    <c:v>Sun</c:v>
                  </c:pt>
                  <c:pt idx="22">
                    <c:v>Mon</c:v>
                  </c:pt>
                  <c:pt idx="23">
                    <c:v>Tue</c:v>
                  </c:pt>
                  <c:pt idx="24">
                    <c:v>Wed</c:v>
                  </c:pt>
                  <c:pt idx="25">
                    <c:v>Thu</c:v>
                  </c:pt>
                  <c:pt idx="26">
                    <c:v>Fri</c:v>
                  </c:pt>
                  <c:pt idx="27">
                    <c:v>Sat</c:v>
                  </c:pt>
                </c:lvl>
                <c:lvl>
                  <c:pt idx="0">
                    <c:v>1</c:v>
                  </c:pt>
                  <c:pt idx="7">
                    <c:v>2</c:v>
                  </c:pt>
                  <c:pt idx="14">
                    <c:v>3</c:v>
                  </c:pt>
                  <c:pt idx="21">
                    <c:v>4</c:v>
                  </c:pt>
                </c:lvl>
              </c:multiLvlStrCache>
            </c:multiLvlStrRef>
          </c:cat>
          <c:val>
            <c:numRef>
              <c:f>'Revenue by Quantity and Day_Nam'!$D$3:$D$35</c:f>
              <c:numCache>
                <c:formatCode>General</c:formatCode>
                <c:ptCount val="28"/>
                <c:pt idx="0">
                  <c:v>2780</c:v>
                </c:pt>
                <c:pt idx="1">
                  <c:v>2055</c:v>
                </c:pt>
                <c:pt idx="2">
                  <c:v>3090</c:v>
                </c:pt>
                <c:pt idx="3">
                  <c:v>1880</c:v>
                </c:pt>
                <c:pt idx="4">
                  <c:v>2640</c:v>
                </c:pt>
                <c:pt idx="5">
                  <c:v>1965</c:v>
                </c:pt>
                <c:pt idx="6">
                  <c:v>2550</c:v>
                </c:pt>
                <c:pt idx="7">
                  <c:v>2020</c:v>
                </c:pt>
                <c:pt idx="8">
                  <c:v>5580</c:v>
                </c:pt>
                <c:pt idx="9">
                  <c:v>2550</c:v>
                </c:pt>
                <c:pt idx="10">
                  <c:v>3830</c:v>
                </c:pt>
                <c:pt idx="11">
                  <c:v>2510</c:v>
                </c:pt>
                <c:pt idx="12">
                  <c:v>3680</c:v>
                </c:pt>
                <c:pt idx="13">
                  <c:v>6280</c:v>
                </c:pt>
                <c:pt idx="14">
                  <c:v>4455</c:v>
                </c:pt>
                <c:pt idx="15">
                  <c:v>7995</c:v>
                </c:pt>
                <c:pt idx="16">
                  <c:v>5580</c:v>
                </c:pt>
                <c:pt idx="17">
                  <c:v>6675</c:v>
                </c:pt>
                <c:pt idx="18">
                  <c:v>5115</c:v>
                </c:pt>
                <c:pt idx="19">
                  <c:v>7215</c:v>
                </c:pt>
                <c:pt idx="20">
                  <c:v>6780</c:v>
                </c:pt>
                <c:pt idx="21">
                  <c:v>14940</c:v>
                </c:pt>
                <c:pt idx="22">
                  <c:v>7660</c:v>
                </c:pt>
                <c:pt idx="23">
                  <c:v>14140</c:v>
                </c:pt>
                <c:pt idx="24">
                  <c:v>7840</c:v>
                </c:pt>
                <c:pt idx="25">
                  <c:v>4000</c:v>
                </c:pt>
                <c:pt idx="26">
                  <c:v>4580</c:v>
                </c:pt>
                <c:pt idx="27">
                  <c:v>16520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B8-49A0-8030-818779D51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6493792"/>
        <c:axId val="906493312"/>
      </c:lineChart>
      <c:catAx>
        <c:axId val="906493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493312"/>
        <c:crosses val="autoZero"/>
        <c:auto val="1"/>
        <c:lblAlgn val="ctr"/>
        <c:lblOffset val="100"/>
        <c:noMultiLvlLbl val="0"/>
      </c:catAx>
      <c:valAx>
        <c:axId val="90649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6493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[Retail_sales_Pivot_Table.xlsx]Revenue by Product Category and!PivotTable4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Product Category and Quantity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Product Category and'!$B$1:$B$2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Product Category and'!$A$3:$A$6</c:f>
              <c:strCache>
                <c:ptCount val="3"/>
                <c:pt idx="0">
                  <c:v>Beauty</c:v>
                </c:pt>
                <c:pt idx="1">
                  <c:v>Clothing</c:v>
                </c:pt>
                <c:pt idx="2">
                  <c:v>Electronics</c:v>
                </c:pt>
              </c:strCache>
            </c:strRef>
          </c:cat>
          <c:val>
            <c:numRef>
              <c:f>'Revenue by Product Category and'!$B$3:$B$6</c:f>
              <c:numCache>
                <c:formatCode>General</c:formatCode>
                <c:ptCount val="3"/>
                <c:pt idx="0">
                  <c:v>11730</c:v>
                </c:pt>
                <c:pt idx="1">
                  <c:v>16115</c:v>
                </c:pt>
                <c:pt idx="2">
                  <c:v>16960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9C-4B65-A233-28A57A61361D}"/>
            </c:ext>
          </c:extLst>
        </c:ser>
        <c:ser>
          <c:idx val="1"/>
          <c:order val="1"/>
          <c:tx>
            <c:strRef>
              <c:f>'Revenue by Product Category and'!$C$1:$C$2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Product Category and'!$A$3:$A$6</c:f>
              <c:strCache>
                <c:ptCount val="3"/>
                <c:pt idx="0">
                  <c:v>Beauty</c:v>
                </c:pt>
                <c:pt idx="1">
                  <c:v>Clothing</c:v>
                </c:pt>
                <c:pt idx="2">
                  <c:v>Electronics</c:v>
                </c:pt>
              </c:strCache>
            </c:strRef>
          </c:cat>
          <c:val>
            <c:numRef>
              <c:f>'Revenue by Product Category and'!$C$3:$C$6</c:f>
              <c:numCache>
                <c:formatCode>General</c:formatCode>
                <c:ptCount val="3"/>
                <c:pt idx="0">
                  <c:v>14965</c:v>
                </c:pt>
                <c:pt idx="1">
                  <c:v>12335</c:v>
                </c:pt>
                <c:pt idx="2">
                  <c:v>13225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9C-4B65-A233-28A57A61361D}"/>
            </c:ext>
          </c:extLst>
        </c:ser>
        <c:ser>
          <c:idx val="2"/>
          <c:order val="2"/>
          <c:tx>
            <c:strRef>
              <c:f>'Revenue by Product Category and'!$D$1:$D$2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'Revenue by Product Category and'!$A$3:$A$6</c:f>
              <c:strCache>
                <c:ptCount val="3"/>
                <c:pt idx="0">
                  <c:v>Beauty</c:v>
                </c:pt>
                <c:pt idx="1">
                  <c:v>Clothing</c:v>
                </c:pt>
                <c:pt idx="2">
                  <c:v>Electronics</c:v>
                </c:pt>
              </c:strCache>
            </c:strRef>
          </c:cat>
          <c:val>
            <c:numRef>
              <c:f>'Revenue by Product Category and'!$D$3:$D$6</c:f>
              <c:numCache>
                <c:formatCode>General</c:formatCode>
                <c:ptCount val="3"/>
                <c:pt idx="0">
                  <c:v>17385</c:v>
                </c:pt>
                <c:pt idx="1">
                  <c:v>16105</c:v>
                </c:pt>
                <c:pt idx="2">
                  <c:v>14605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9C-4B65-A233-28A57A61361D}"/>
            </c:ext>
          </c:extLst>
        </c:ser>
        <c:ser>
          <c:idx val="3"/>
          <c:order val="3"/>
          <c:tx>
            <c:strRef>
              <c:f>'Revenue by Product Category and'!$E$1:$E$2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by Product Category and'!$A$3:$A$6</c:f>
              <c:strCache>
                <c:ptCount val="3"/>
                <c:pt idx="0">
                  <c:v>Beauty</c:v>
                </c:pt>
                <c:pt idx="1">
                  <c:v>Clothing</c:v>
                </c:pt>
                <c:pt idx="2">
                  <c:v>Electronics</c:v>
                </c:pt>
              </c:strCache>
            </c:strRef>
          </c:cat>
          <c:val>
            <c:numRef>
              <c:f>'Revenue by Product Category and'!$E$3:$E$6</c:f>
              <c:numCache>
                <c:formatCode>General</c:formatCode>
                <c:ptCount val="3"/>
                <c:pt idx="0">
                  <c:v>12425</c:v>
                </c:pt>
                <c:pt idx="1">
                  <c:v>16595</c:v>
                </c:pt>
                <c:pt idx="2">
                  <c:v>17420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9C-4B65-A233-28A57A613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6624048"/>
        <c:axId val="916613488"/>
      </c:barChart>
      <c:catAx>
        <c:axId val="91662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613488"/>
        <c:crosses val="autoZero"/>
        <c:auto val="1"/>
        <c:lblAlgn val="ctr"/>
        <c:lblOffset val="100"/>
        <c:noMultiLvlLbl val="0"/>
      </c:catAx>
      <c:valAx>
        <c:axId val="916613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624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E42AC-589A-4A48-961C-126AE401912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58F64-AF64-426D-9E2E-DF04D4690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6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58F64-AF64-426D-9E2E-DF04D46900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59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58F64-AF64-426D-9E2E-DF04D46900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46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err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58F64-AF64-426D-9E2E-DF04D46900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61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86D7-AD0C-EAFC-8843-82C0FC948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15A38-1F29-93FF-ECE9-D81472B76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FCFB8-38C5-078D-87C4-66F3F37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D7BA5-0EED-9484-EF54-66C85760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9701D-D93B-D94B-461F-E3DE6AD8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BD3B-C86C-1698-2CDD-FD07CCC3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AD7B-3499-C64B-1459-A8BF9EFF2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6B15D-939A-33DB-BFA0-ABAF7184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78661-981F-2CEF-6C22-78248C6C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85A1F-82EA-AFF8-34AC-91EAF591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5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F9BD-CD5E-37C5-F799-50807061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954EC-F656-ADBD-5290-CD8633C70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CA70-73A0-5DFF-CFA3-D969F3C7A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6ED60-97A8-3429-C5BA-6E32ACB3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CBE40-F145-CCC1-1370-B29046BA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4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488C-1FCE-DB5E-AFE6-B7F2F78A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F6305-7CD8-6FB1-0E77-EE065AAA7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0CEF4-32AE-418E-206B-06A9A0B24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409F8-CBA4-13BE-4207-36AA9FBA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16EC0-D332-3A0B-FCBD-7205EA27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EFF34-8EFD-7101-C8B0-D8958B8D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32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8DEE-02DB-C6F2-7938-019DE1CE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9315E-EAEF-8A0C-972E-6A763587D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0039C-F8C7-6D96-1B82-A6FE118B3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758FD-DCD1-8070-BC52-FD1E7019D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230AE-81DB-D646-6B5D-41E1CA6A3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23CCE-AE5D-B83D-0A07-21F7EF26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8FE20-BC21-3E51-CEA6-F2B09B63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356F04-6EDC-DDE8-AE63-A764CB3B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5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4077-EDFE-6C15-BE03-B1D567EE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1EB04-E44A-3634-F1CE-4A7DC404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6EE73-B6B9-3434-9285-25A287FB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A3C81-8453-CFC2-A763-1E830162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2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090A6-EC42-733E-2793-057BA848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8F985-565E-A6A1-9B8A-4687D8B0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E433-AA8A-28B6-42A5-ACD5447A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6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94D6-6823-1995-E458-3EF65E11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7AC64-D55B-77EC-284A-32B50DB8F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349B1-7EEB-B652-0EE2-43E1CA726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2779-3CE8-4E77-0FC9-58B0B967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E430-C74A-9C40-9A16-4B7591290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477AD-4ABF-6698-76A2-4F58F936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7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0972-BC24-273A-19CB-D830C9E5A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083E3-9BEB-1197-70E9-19CF1DC48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9F733-0406-80E4-0903-2A0C34B46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F6C3F-5344-A1AA-0C9C-FEB30729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E98A5-9002-E0B3-69E1-FE80F020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F2B36-F84F-A07A-B440-2902841C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0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9867-0D8F-2D07-06D6-0EC25A43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3EF84-08A4-2905-771E-01628D1EB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6C4AA-8254-6B7D-1B92-27FA780A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68E8C-798D-6C43-67E5-E21D96D97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494BB-A993-4191-5084-B7C2784D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6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DABF4-B405-D346-DB1F-D8A43C6AF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592B7-0ED8-02EE-0278-0CDD13C9A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D7F02-7CC5-69A4-E83C-56915D1A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2DF47-1F8C-2E9F-AA6E-A0C54165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F72B6-C014-4E11-A679-94815D75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7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EC773-F01D-52A1-1274-E9355C2D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0E7C6-FA8C-F9D3-F5A3-471E858B8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ABD46-80D6-21E4-8ED6-198128BC8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43548-70F2-4F30-94A6-4648716D163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72A75-A86C-623A-83DB-D2C78F98D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1AACA-C914-4A54-4948-5468A741F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794EC-C8CA-49A3-8953-C2D7B7251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0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48FE-F97B-A574-3021-68C395BAAB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Retail Performance Analysis: Annual Sales &amp; Consumer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784E3-0127-81A9-412D-7FE022BDE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Beyond the Transaction: Uncovering the Stories Behind the Sales</a:t>
            </a:r>
          </a:p>
        </p:txBody>
      </p:sp>
    </p:spTree>
    <p:extLst>
      <p:ext uri="{BB962C8B-B14F-4D97-AF65-F5344CB8AC3E}">
        <p14:creationId xmlns:p14="http://schemas.microsoft.com/office/powerpoint/2010/main" val="3172957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23D7-EF7A-6CDB-CA30-73DC1FC3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171450" indent="-171450"/>
            <a:r>
              <a:rPr lang="en-US" sz="1400" dirty="0"/>
              <a:t>     - Both genders experience fluctuations throughout the year, suggesting revenue is strongly influenced by specific weekdays</a:t>
            </a:r>
            <a:br>
              <a:rPr lang="en-US" sz="1400" dirty="0"/>
            </a:br>
            <a:r>
              <a:rPr lang="en-US" sz="1400" dirty="0"/>
              <a:t>   and seasonal patterns. </a:t>
            </a:r>
            <a:br>
              <a:rPr lang="en-US" sz="1400" dirty="0"/>
            </a:br>
            <a:r>
              <a:rPr lang="en-US" sz="1400" dirty="0"/>
              <a:t>- Mid-year months (May–July) show higher overall activity for both genders. </a:t>
            </a:r>
            <a:br>
              <a:rPr lang="en-US" sz="1400" dirty="0"/>
            </a:br>
            <a:r>
              <a:rPr lang="en-US" sz="1400" dirty="0"/>
              <a:t>- September appears to have comparatively lower revenue for both groups. </a:t>
            </a:r>
            <a:br>
              <a:rPr lang="en-US" sz="1400" dirty="0"/>
            </a:br>
            <a:r>
              <a:rPr lang="en-US" sz="1400" dirty="0"/>
              <a:t>- Toward December, male revenue increases significantly, possibly indicating holiday or festive season spending patterns.</a:t>
            </a: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043B35-DFFB-FB82-C1E9-BA66FA2141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224484"/>
              </p:ext>
            </p:extLst>
          </p:nvPr>
        </p:nvGraphicFramePr>
        <p:xfrm>
          <a:off x="838200" y="1825625"/>
          <a:ext cx="10515600" cy="4178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375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F46D-66E7-1F0A-2604-E6786C41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1600" b="1" dirty="0"/>
            </a:br>
            <a:br>
              <a:rPr lang="en-US" sz="1600" b="1" dirty="0"/>
            </a:br>
            <a:br>
              <a:rPr lang="en-US" sz="1600" b="1" dirty="0"/>
            </a:br>
            <a:br>
              <a:rPr lang="en-US" sz="1600" dirty="0"/>
            </a:br>
            <a:r>
              <a:rPr lang="en-US" sz="1600" dirty="0"/>
              <a:t>- Peak Month: May is the highest-performing month of the year, generating a total of R870,597. This surge is largely driven by a massive spike in</a:t>
            </a:r>
            <a:br>
              <a:rPr lang="en-US" sz="1600" dirty="0"/>
            </a:br>
            <a:r>
              <a:rPr lang="en-US" sz="1600" dirty="0"/>
              <a:t>   Electronics sales</a:t>
            </a:r>
            <a:br>
              <a:rPr lang="en-US" sz="1600" dirty="0"/>
            </a:br>
            <a:r>
              <a:rPr lang="en-US" sz="1600" dirty="0"/>
              <a:t>- Lowest Month: September marks the annual low point in revenue, dropping R386,896, indicating a significant post-summer/pre-holiday slump.</a:t>
            </a:r>
            <a:br>
              <a:rPr lang="en-US" sz="1600" dirty="0"/>
            </a:br>
            <a:r>
              <a:rPr lang="en-US" sz="1600" dirty="0"/>
              <a:t>- Holiday Rally: There is a clear upward trend from October R762,980 through December R732,022, showing strong end-of-year consumer</a:t>
            </a:r>
            <a:br>
              <a:rPr lang="en-US" sz="1600" dirty="0"/>
            </a:br>
            <a:r>
              <a:rPr lang="en-US" sz="1600" dirty="0"/>
              <a:t>   spending.</a:t>
            </a:r>
            <a:br>
              <a:rPr lang="en-US" dirty="0"/>
            </a:br>
            <a:br>
              <a:rPr lang="en-US" sz="1600" dirty="0"/>
            </a:br>
            <a:br>
              <a:rPr lang="en-US" sz="1600" dirty="0"/>
            </a:br>
            <a:endParaRPr lang="en-US" sz="1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C9E81B-F60C-94E3-91E9-61AA67C06D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224450"/>
              </p:ext>
            </p:extLst>
          </p:nvPr>
        </p:nvGraphicFramePr>
        <p:xfrm>
          <a:off x="838200" y="186453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271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7A12-E590-C6F8-123D-B1C7BF08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600" dirty="0"/>
              <a:t>- Highest Revenue Group: The Youth demographic is the primary driver of sales, leading significantly in Clothing (~66,000) and Beauty (~62,500).</a:t>
            </a:r>
            <a:br>
              <a:rPr lang="en-US" sz="1600" dirty="0"/>
            </a:br>
            <a:r>
              <a:rPr lang="en-US" sz="1600" dirty="0"/>
              <a:t>- Lowest Revenue Group: Adults generate the least revenue overall, with relatively flat spending across all categories.</a:t>
            </a:r>
            <a:br>
              <a:rPr lang="en-US" sz="1600" dirty="0"/>
            </a:br>
            <a:r>
              <a:rPr lang="en-US" sz="1600" dirty="0"/>
              <a:t>- Top Product by Group:</a:t>
            </a:r>
            <a:br>
              <a:rPr lang="en-US" sz="1600" dirty="0"/>
            </a:br>
            <a:r>
              <a:rPr lang="en-US" sz="1600" b="1" dirty="0"/>
              <a:t>&gt; Youth</a:t>
            </a:r>
            <a:r>
              <a:rPr lang="en-US" sz="1600" dirty="0"/>
              <a:t>: Clothing</a:t>
            </a:r>
            <a:br>
              <a:rPr lang="en-US" sz="1600" dirty="0"/>
            </a:br>
            <a:r>
              <a:rPr lang="en-US" sz="1600" b="1" dirty="0"/>
              <a:t>&gt; Pensioner</a:t>
            </a:r>
            <a:r>
              <a:rPr lang="en-US" sz="1600" dirty="0"/>
              <a:t>: Electronics</a:t>
            </a:r>
            <a:br>
              <a:rPr lang="en-US" sz="1600" dirty="0"/>
            </a:br>
            <a:r>
              <a:rPr lang="en-US" sz="1600" b="1" dirty="0"/>
              <a:t>&gt; Adult</a:t>
            </a:r>
            <a:r>
              <a:rPr lang="en-US" sz="1600" dirty="0"/>
              <a:t>: Beauty</a:t>
            </a:r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BEB4BB-2400-31A5-1142-A5E6DD2E9D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7715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B4C9-C55D-F806-3CA4-84808828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- Overall Growth: Revenue for all categories is significantly higher in Week 3 and Week 4 compared to the first two weeks, suggesting a </a:t>
            </a:r>
            <a:br>
              <a:rPr lang="en-US" sz="1400" dirty="0"/>
            </a:br>
            <a:r>
              <a:rPr lang="en-US" sz="1400" dirty="0"/>
              <a:t>   month- end surge or a specific seasonal promotion.</a:t>
            </a:r>
            <a:br>
              <a:rPr lang="en-US" sz="1400" dirty="0"/>
            </a:br>
            <a:r>
              <a:rPr lang="en-US" sz="1400" dirty="0"/>
              <a:t>- Top Performer: Electronics hits the highest single-day revenue peak on the final Saturday (approx. 16,500).</a:t>
            </a:r>
            <a:br>
              <a:rPr lang="en-US" sz="1400" dirty="0"/>
            </a:br>
            <a:r>
              <a:rPr lang="en-US" sz="1400" dirty="0"/>
              <a:t>- High Volatility: Unlike the first chart, daily revenue here is extremely "spiky," indicating that sales are likely driven by specific daily deals or</a:t>
            </a:r>
            <a:br>
              <a:rPr lang="en-US" sz="1400" dirty="0"/>
            </a:br>
            <a:r>
              <a:rPr lang="en-US" sz="1400" dirty="0"/>
              <a:t>   weekend shopping patterns rather than steady daily demand.</a:t>
            </a:r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D9302C-7F60-1B66-2EBB-7E2ABE961F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166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A76A-D7A3-17E2-2596-6213BFC9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- Highest Revenue Source: Transactions containing 4 items in the Electronics category generate the most revenue (approx. 17,500).</a:t>
            </a:r>
            <a:br>
              <a:rPr lang="en-US" sz="1400" dirty="0"/>
            </a:br>
            <a:r>
              <a:rPr lang="en-US" sz="1400" dirty="0"/>
              <a:t>- Bulk Buying Trends: In Beauty, the highest revenue comes from 3-item purchases, whereas in Electronics, revenue is strongest at the extremes</a:t>
            </a:r>
            <a:br>
              <a:rPr lang="en-US" sz="1400" dirty="0"/>
            </a:br>
            <a:r>
              <a:rPr lang="en-US" sz="1400" dirty="0"/>
              <a:t>  (1-item or 4-item transactions).</a:t>
            </a:r>
            <a:br>
              <a:rPr lang="en-US" sz="1400" dirty="0"/>
            </a:br>
            <a:r>
              <a:rPr lang="en-US" sz="1400" dirty="0"/>
              <a:t>- Clothing Consistency: Clothing shows the most stable revenue across different quantities, with 1, 3, and 4 items all generating nearly equal</a:t>
            </a:r>
            <a:br>
              <a:rPr lang="en-US" sz="1400" dirty="0"/>
            </a:br>
            <a:r>
              <a:rPr lang="en-US" sz="1400" dirty="0"/>
              <a:t>   revenue (approx. 16,000–16,500).</a:t>
            </a:r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B9E010-95E3-F0D6-CB93-4937870485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3578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493</Words>
  <Application>Microsoft Office PowerPoint</Application>
  <PresentationFormat>Widescreen</PresentationFormat>
  <Paragraphs>15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Retail Performance Analysis: Annual Sales &amp; Consumer Trends</vt:lpstr>
      <vt:lpstr>     - Both genders experience fluctuations throughout the year, suggesting revenue is strongly influenced by specific weekdays    and seasonal patterns.  - Mid-year months (May–July) show higher overall activity for both genders.  - September appears to have comparatively lower revenue for both groups.  - Toward December, male revenue increases significantly, possibly indicating holiday or festive season spending patterns.  </vt:lpstr>
      <vt:lpstr>    - Peak Month: May is the highest-performing month of the year, generating a total of R870,597. This surge is largely driven by a massive spike in    Electronics sales - Lowest Month: September marks the annual low point in revenue, dropping R386,896, indicating a significant post-summer/pre-holiday slump. - Holiday Rally: There is a clear upward trend from October R762,980 through December R732,022, showing strong end-of-year consumer    spending.   </vt:lpstr>
      <vt:lpstr>- Highest Revenue Group: The Youth demographic is the primary driver of sales, leading significantly in Clothing (~66,000) and Beauty (~62,500). - Lowest Revenue Group: Adults generate the least revenue overall, with relatively flat spending across all categories. - Top Product by Group: &gt; Youth: Clothing &gt; Pensioner: Electronics &gt; Adult: Beauty </vt:lpstr>
      <vt:lpstr>- Overall Growth: Revenue for all categories is significantly higher in Week 3 and Week 4 compared to the first two weeks, suggesting a     month- end surge or a specific seasonal promotion. - Top Performer: Electronics hits the highest single-day revenue peak on the final Saturday (approx. 16,500). - High Volatility: Unlike the first chart, daily revenue here is extremely "spiky," indicating that sales are likely driven by specific daily deals or    weekend shopping patterns rather than steady daily demand. </vt:lpstr>
      <vt:lpstr>- Highest Revenue Source: Transactions containing 4 items in the Electronics category generate the most revenue (approx. 17,500). - Bulk Buying Trends: In Beauty, the highest revenue comes from 3-item purchases, whereas in Electronics, revenue is strongest at the extremes   (1-item or 4-item transactions). - Clothing Consistency: Clothing shows the most stable revenue across different quantities, with 1, 3, and 4 items all generating nearly equal    revenue (approx. 16,000–16,500).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Bongani Ngcobo</dc:creator>
  <cp:lastModifiedBy>Bongani Ngcobo</cp:lastModifiedBy>
  <cp:revision>4</cp:revision>
  <dcterms:created xsi:type="dcterms:W3CDTF">2026-05-09T17:53:32Z</dcterms:created>
  <dcterms:modified xsi:type="dcterms:W3CDTF">2026-05-12T10:26:47Z</dcterms:modified>
</cp:coreProperties>
</file>